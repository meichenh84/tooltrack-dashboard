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228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94960" y="1280160"/>
            <a:ext cx="1005840" cy="1005840"/>
          </a:xfrm>
          <a:prstGeom prst="roundRect">
            <a:avLst/>
          </a:prstGeom>
          <a:solidFill>
            <a:srgbClr val="0D1620"/>
          </a:solidFill>
          <a:ln w="381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0">
                <a:solidFill>
                  <a:srgbClr val="00D4FF"/>
                </a:solidFill>
              </a:defRPr>
            </a:pPr>
            <a:r>
              <a:t>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D4FF"/>
                </a:solidFill>
              </a:defRPr>
            </a:pPr>
            <a:r>
              <a:t>ToolTrack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C8E8"/>
                </a:solidFill>
              </a:defRPr>
            </a:pPr>
            <a:r>
              <a:t>跨站測試工具使用追蹤平台</a:t>
            </a:r>
          </a:p>
        </p:txBody>
      </p:sp>
      <p:sp>
        <p:nvSpPr>
          <p:cNvPr id="6" name="Oval 5"/>
          <p:cNvSpPr/>
          <p:nvPr/>
        </p:nvSpPr>
        <p:spPr>
          <a:xfrm>
            <a:off x="1386687" y="427939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15287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889A8"/>
                </a:solidFill>
              </a:defRPr>
            </a:pPr>
            <a:r>
              <a:t>TPE / XM / FQ 三站追蹤</a:t>
            </a:r>
          </a:p>
        </p:txBody>
      </p:sp>
      <p:sp>
        <p:nvSpPr>
          <p:cNvPr id="8" name="Oval 7"/>
          <p:cNvSpPr/>
          <p:nvPr/>
        </p:nvSpPr>
        <p:spPr>
          <a:xfrm>
            <a:off x="4587087" y="427939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5687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889A8"/>
                </a:solidFill>
              </a:defRPr>
            </a:pPr>
            <a:r>
              <a:t>30 項測試工具管理</a:t>
            </a:r>
          </a:p>
        </p:txBody>
      </p:sp>
      <p:sp>
        <p:nvSpPr>
          <p:cNvPr id="10" name="Oval 9"/>
          <p:cNvSpPr/>
          <p:nvPr/>
        </p:nvSpPr>
        <p:spPr>
          <a:xfrm>
            <a:off x="7787487" y="4279392"/>
            <a:ext cx="109728" cy="10972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6087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889A8"/>
                </a:solidFill>
              </a:defRPr>
            </a:pPr>
            <a:r>
              <a:t>完整 Log 生命週期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889A8"/>
                </a:solidFill>
              </a:defRPr>
            </a:pPr>
            <a:r>
              <a:t>2026 — Project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01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Dashboard 是什麼工具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WHAT IS TOOLTRACK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工具定位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A8C8E8"/>
                </a:solidFill>
              </a:defRPr>
            </a:pPr>
            <a:r>
              <a:t>▸  跨 3 個 Site（TPE / XM / FQ）的測試工具使用追蹤平台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A8C8E8"/>
                </a:solidFill>
              </a:defRPr>
            </a:pPr>
            <a:r>
              <a:t>▸  追蹤並管理 30 項測試工具（HW 硬體類 / SW 軟體類）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400">
                <a:solidFill>
                  <a:srgbClr val="A8C8E8"/>
                </a:solidFill>
              </a:defRPr>
            </a:pPr>
            <a:r>
              <a:t>▸  提供 QA 團隊、Team Lead、管理層進行工具使用率監控與決策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71600"/>
            <a:ext cx="1234440" cy="109728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90688" y="1371600"/>
            <a:ext cx="1197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5087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889A8"/>
                </a:solidFill>
              </a:defRPr>
            </a:pPr>
            <a:r>
              <a:t>測試工具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371600"/>
            <a:ext cx="1234440" cy="109728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62288" y="1371600"/>
            <a:ext cx="1197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15087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0116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889A8"/>
                </a:solidFill>
              </a:defRPr>
            </a:pPr>
            <a:r>
              <a:t>跨站追蹤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0" y="1371600"/>
            <a:ext cx="1234440" cy="109728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533888" y="1371600"/>
            <a:ext cx="1197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07040" y="150876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201168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889A8"/>
                </a:solidFill>
              </a:defRPr>
            </a:pPr>
            <a:r>
              <a:t>核心功能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3580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核心功能架構圖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474720"/>
            <a:ext cx="4114800" cy="54864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⬡  ToolTrack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4023360"/>
            <a:ext cx="27432" cy="3200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03120" y="4343400"/>
            <a:ext cx="758952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194560" y="4343400"/>
            <a:ext cx="2743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88720" y="4617720"/>
            <a:ext cx="2194560" cy="16459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07008" y="4617720"/>
            <a:ext cx="215798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8016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F6FC"/>
                </a:solidFill>
              </a:defRPr>
            </a:pPr>
            <a: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49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年度使用矩陣</a:t>
            </a:r>
            <a:br/>
            <a:r>
              <a:t>月別使用次數</a:t>
            </a:r>
            <a:br/>
            <a:r>
              <a:t>跨年度趨勢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4343400"/>
            <a:ext cx="2743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749040" y="4617720"/>
            <a:ext cx="2194560" cy="16459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767328" y="4617720"/>
            <a:ext cx="215798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F6FC"/>
                </a:solidFill>
              </a:defRPr>
            </a:pPr>
            <a:r>
              <a:t>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Rankings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349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工具排名 Podium</a:t>
            </a:r>
            <a:br/>
            <a:r>
              <a:t>各站使用排名</a:t>
            </a:r>
            <a:br/>
            <a:r>
              <a:t>Tester 上傳排名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343400"/>
            <a:ext cx="2743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309360" y="4617720"/>
            <a:ext cx="2194560" cy="16459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327648" y="4617720"/>
            <a:ext cx="215798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F6FC"/>
                </a:solidFill>
              </a:defRPr>
            </a:pPr>
            <a:r>
              <a:t>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Upload Log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349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拖放上傳 Log</a:t>
            </a:r>
            <a:br/>
            <a:r>
              <a:t>搜尋 / 篩選 / 排序</a:t>
            </a:r>
            <a:br/>
            <a:r>
              <a:t>PASS / FAIL 標記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4343400"/>
            <a:ext cx="2743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869680" y="4617720"/>
            <a:ext cx="2194560" cy="16459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887968" y="4617720"/>
            <a:ext cx="215798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61120" y="4709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F6FC"/>
                </a:solidFill>
              </a:defRPr>
            </a:pPr>
            <a:r>
              <a:t>⚙️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Tool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53492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CRUD 工具管理</a:t>
            </a:r>
            <a:br/>
            <a:r>
              <a:t>新增 / 編輯 / 刪除</a:t>
            </a:r>
            <a:br/>
            <a:r>
              <a:t>啟用 / 停用控制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02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解決的核心痛點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PAIN POINTS &amp; SOLUTIONS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1148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371600"/>
            <a:ext cx="3346704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0F6FC"/>
                </a:solidFill>
              </a:defRPr>
            </a:pPr>
            <a:r>
              <a:t>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6FC"/>
                </a:solidFill>
              </a:defRPr>
            </a:pPr>
            <a:r>
              <a:t>工具使用率不透明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889A8"/>
                </a:solidFill>
              </a:defRPr>
            </a:pPr>
            <a:r>
              <a:t>過去無法得知哪些工具被頻繁使用、</a:t>
            </a:r>
            <a:br/>
            <a:r>
              <a:t>哪些閒置，資源分配缺乏數據支持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297680"/>
            <a:ext cx="2834640" cy="731520"/>
          </a:xfrm>
          <a:prstGeom prst="roundRect">
            <a:avLst/>
          </a:prstGeom>
          <a:solidFill>
            <a:srgbClr val="050B12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2834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74C3C"/>
                </a:solidFill>
              </a:defRPr>
            </a:pPr>
            <a:r>
              <a:rPr dirty="0"/>
              <a:t>✔ </a:t>
            </a:r>
            <a:r>
              <a:rPr dirty="0" err="1"/>
              <a:t>年度矩陣</a:t>
            </a:r>
            <a:r>
              <a:rPr dirty="0"/>
              <a:t> + </a:t>
            </a:r>
            <a:r>
              <a:rPr dirty="0" err="1"/>
              <a:t>月別統計完整可視化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389120" y="1371600"/>
            <a:ext cx="3383280" cy="41148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07408" y="1371600"/>
            <a:ext cx="3346704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0F6FC"/>
                </a:solidFill>
              </a:defRPr>
            </a:pPr>
            <a: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6FC"/>
                </a:solidFill>
              </a:defRPr>
            </a:pPr>
            <a:r>
              <a:t>未使用工具無警示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834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889A8"/>
                </a:solidFill>
              </a:defRPr>
            </a:pPr>
            <a:r>
              <a:t>閒置工具佔用資源卻無人注意，</a:t>
            </a:r>
            <a:br/>
            <a:r>
              <a:t>造成維護成本浪費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4297680"/>
            <a:ext cx="2834640" cy="731520"/>
          </a:xfrm>
          <a:prstGeom prst="roundRect">
            <a:avLst/>
          </a:prstGeom>
          <a:solidFill>
            <a:srgbClr val="050B12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39" y="4434840"/>
            <a:ext cx="283463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39C12"/>
                </a:solidFill>
              </a:defRPr>
            </a:pPr>
            <a:r>
              <a:rPr dirty="0"/>
              <a:t>✔ </a:t>
            </a:r>
            <a:r>
              <a:rPr dirty="0" err="1"/>
              <a:t>低使用工具紅色脈衝警示</a:t>
            </a:r>
            <a:r>
              <a:rPr dirty="0"/>
              <a:t> + </a:t>
            </a:r>
            <a:r>
              <a:rPr dirty="0" err="1"/>
              <a:t>標記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8046720" y="1371600"/>
            <a:ext cx="3383280" cy="41148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65008" y="1371600"/>
            <a:ext cx="3346704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0F6FC"/>
                </a:solidFill>
              </a:defRPr>
            </a:pPr>
            <a:r>
              <a:t>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6FC"/>
                </a:solidFill>
              </a:defRPr>
            </a:pPr>
            <a:r>
              <a:t>跨站協作無追蹤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346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889A8"/>
                </a:solidFill>
              </a:defRPr>
            </a:pPr>
            <a:r>
              <a:t>TPE / XM / FQ 各站工具使用情況</a:t>
            </a:r>
            <a:br/>
            <a:r>
              <a:t>各自為政，無法統一管理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4297680"/>
            <a:ext cx="2834640" cy="731520"/>
          </a:xfrm>
          <a:prstGeom prst="roundRect">
            <a:avLst/>
          </a:prstGeom>
          <a:solidFill>
            <a:srgbClr val="050B12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4434840"/>
            <a:ext cx="2834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894"/>
                </a:solidFill>
              </a:defRPr>
            </a:pPr>
            <a:r>
              <a:rPr dirty="0"/>
              <a:t>✔ </a:t>
            </a:r>
            <a:r>
              <a:rPr dirty="0" err="1"/>
              <a:t>三站統一</a:t>
            </a:r>
            <a:r>
              <a:rPr dirty="0"/>
              <a:t> Dashboard + </a:t>
            </a:r>
            <a:r>
              <a:rPr dirty="0" err="1"/>
              <a:t>各站排名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03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前後端部署架構 — 當前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CURRENT DEPLOYMENT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28016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React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280160"/>
            <a:ext cx="128016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B894"/>
                </a:solidFill>
              </a:defRPr>
            </a:pPr>
            <a:r>
              <a:t>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80160"/>
            <a:ext cx="128016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9B59B6"/>
                </a:solidFill>
              </a:defRPr>
            </a:pPr>
            <a:r>
              <a:t>GitHub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280160"/>
            <a:ext cx="128016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3498DB"/>
                </a:solidFill>
              </a:defRPr>
            </a:pPr>
            <a:r>
              <a:t>SPA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286000"/>
            <a:ext cx="2286000" cy="11887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5448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6FC"/>
                </a:solidFill>
              </a:defRPr>
            </a:pPr>
            <a: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63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React + Vite SPA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31920" y="2697480"/>
            <a:ext cx="7315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889A8"/>
                </a:solidFill>
              </a:defRPr>
            </a:pPr>
            <a:r>
              <a:t>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2286000"/>
            <a:ext cx="2286000" cy="11887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6FC"/>
                </a:solidFill>
              </a:defRPr>
            </a:pPr>
            <a: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Static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063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dist/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406640" y="2697480"/>
            <a:ext cx="73152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889A8"/>
                </a:solidFill>
              </a:defRPr>
            </a:pPr>
            <a:r>
              <a:t>deploy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2286000"/>
            <a:ext cx="2286000" cy="11887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2423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6FC"/>
                </a:solidFill>
              </a:defRPr>
            </a:pPr>
            <a: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0F6FC"/>
                </a:solidFill>
              </a:defRPr>
            </a:pPr>
            <a:r>
              <a:t>GitHub Pages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063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靜態託管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3192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3504" y="3931920"/>
            <a:ext cx="10460736" cy="640080"/>
          </a:xfrm>
          <a:prstGeom prst="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0233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8C8E8"/>
                </a:solidFill>
              </a:defRPr>
            </a:pPr>
            <a:r>
              <a:t>ℹ️ 現況：目前為純前端架構，資料寫死在 JSX 中。已可展示完整 UI/UX，下一步需要 Backend 支持動態資料與 Log 上傳。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6460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下一步：完整前後端架構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8C8E8"/>
                </a:solidFill>
              </a:defRPr>
            </a:pPr>
            <a:r>
              <a:t>▸  Frontend (React) → Backend API Server (Node.js / Python) → Database (PostgreSQL)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8C8E8"/>
                </a:solidFill>
              </a:defRPr>
            </a:pPr>
            <a:r>
              <a:t>▸  加入 Log Parser 引擎、API Key 驗證機制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>
                <a:solidFill>
                  <a:srgbClr val="A8C8E8"/>
                </a:solidFill>
              </a:defRPr>
            </a:pPr>
            <a:r>
              <a:t>▸  所有資料動態從 Database 讀取，不再寫死在前端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04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未來完整架構圖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FUTURE FULL-STACK ARCHITECTURE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68756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所需資源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C8E8"/>
                </a:solidFill>
              </a:defRPr>
            </a:pPr>
            <a:r>
              <a:t>應用伺服器 (2 vCPU / 4GB)  ·  PostgreSQL 15+  ·  檔案儲存 100GB+  ·  CI/CD Pipeline  ·  域名 / SSL</a:t>
            </a:r>
          </a:p>
        </p:txBody>
      </p:sp>
      <p:sp>
        <p:nvSpPr>
          <p:cNvPr id="100" name="Label100"/>
          <p:cNvSpPr txBox="1"/>
          <p:nvPr/>
        </p:nvSpPr>
        <p:spPr>
          <a:xfrm>
            <a:off x="279400" y="16256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 dirty="0">
                <a:solidFill>
                  <a:srgbClr val="6889A8"/>
                </a:solidFill>
              </a:rPr>
              <a:t>FRONTEND</a:t>
            </a:r>
          </a:p>
        </p:txBody>
      </p:sp>
      <p:sp>
        <p:nvSpPr>
          <p:cNvPr id="101" name="Label101"/>
          <p:cNvSpPr txBox="1"/>
          <p:nvPr/>
        </p:nvSpPr>
        <p:spPr>
          <a:xfrm>
            <a:off x="279400" y="32131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 dirty="0">
                <a:solidFill>
                  <a:srgbClr val="6889A8"/>
                </a:solidFill>
              </a:rPr>
              <a:t>BACKEND</a:t>
            </a:r>
          </a:p>
        </p:txBody>
      </p:sp>
      <p:sp>
        <p:nvSpPr>
          <p:cNvPr id="102" name="Label102"/>
          <p:cNvSpPr txBox="1"/>
          <p:nvPr/>
        </p:nvSpPr>
        <p:spPr>
          <a:xfrm>
            <a:off x="279400" y="4737100"/>
            <a:ext cx="1371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900" b="1" dirty="0">
                <a:solidFill>
                  <a:srgbClr val="6889A8"/>
                </a:solidFill>
              </a:rPr>
              <a:t>DATABASE</a:t>
            </a:r>
          </a:p>
        </p:txBody>
      </p:sp>
      <p:sp>
        <p:nvSpPr>
          <p:cNvPr id="103" name="Card103"/>
          <p:cNvSpPr/>
          <p:nvPr/>
        </p:nvSpPr>
        <p:spPr>
          <a:xfrm>
            <a:off x="5461000" y="1270000"/>
            <a:ext cx="2540000" cy="990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00D4FF"/>
            </a:solidFill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0"/>
              </a:spcAft>
            </a:pPr>
            <a:r>
              <a:rPr lang="en-US" sz="1600" dirty="0"/>
              <a:t>💻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300" b="1" dirty="0">
                <a:solidFill>
                  <a:srgbClr val="F0F6FC"/>
                </a:solidFill>
              </a:rPr>
              <a:t>Frontend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TW" sz="1000" dirty="0">
                <a:solidFill>
                  <a:srgbClr val="6889A8"/>
                </a:solidFill>
              </a:rPr>
              <a:t>React + Vite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00D4FF"/>
                </a:solidFill>
              </a:rPr>
              <a:t>使用者介面</a:t>
            </a:r>
          </a:p>
        </p:txBody>
      </p:sp>
      <p:sp>
        <p:nvSpPr>
          <p:cNvPr id="104" name="Card104"/>
          <p:cNvSpPr/>
          <p:nvPr/>
        </p:nvSpPr>
        <p:spPr>
          <a:xfrm>
            <a:off x="2397125" y="2857500"/>
            <a:ext cx="2476500" cy="990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00B894"/>
            </a:solidFill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0"/>
              </a:spcAft>
            </a:pPr>
            <a:r>
              <a:rPr lang="en-US" sz="1600" dirty="0"/>
              <a:t>⚙️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300" b="1" dirty="0">
                <a:solidFill>
                  <a:srgbClr val="F0F6FC"/>
                </a:solidFill>
              </a:rPr>
              <a:t>API Server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TW" sz="1000" dirty="0">
                <a:solidFill>
                  <a:srgbClr val="6889A8"/>
                </a:solidFill>
              </a:rPr>
              <a:t>業務邏輯層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00B894"/>
                </a:solidFill>
              </a:rPr>
              <a:t>Node.js / Python</a:t>
            </a:r>
          </a:p>
        </p:txBody>
      </p:sp>
      <p:sp>
        <p:nvSpPr>
          <p:cNvPr id="105" name="Card105"/>
          <p:cNvSpPr/>
          <p:nvPr/>
        </p:nvSpPr>
        <p:spPr>
          <a:xfrm>
            <a:off x="5492750" y="2857500"/>
            <a:ext cx="2476500" cy="990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00B894"/>
            </a:solidFill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0"/>
              </a:spcAft>
            </a:pPr>
            <a:r>
              <a:rPr lang="en-US" sz="1600" dirty="0"/>
              <a:t>🔍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300" b="1" dirty="0">
                <a:solidFill>
                  <a:srgbClr val="F0F6FC"/>
                </a:solidFill>
              </a:rPr>
              <a:t>Log Parser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TW" sz="1000" dirty="0">
                <a:solidFill>
                  <a:srgbClr val="6889A8"/>
                </a:solidFill>
              </a:rPr>
              <a:t>Log 解析引擎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00B894"/>
                </a:solidFill>
              </a:rPr>
              <a:t>解析欄位資料</a:t>
            </a:r>
          </a:p>
        </p:txBody>
      </p:sp>
      <p:sp>
        <p:nvSpPr>
          <p:cNvPr id="106" name="Card106"/>
          <p:cNvSpPr/>
          <p:nvPr/>
        </p:nvSpPr>
        <p:spPr>
          <a:xfrm>
            <a:off x="8588375" y="2857500"/>
            <a:ext cx="2476500" cy="990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00B894"/>
            </a:solidFill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0"/>
              </a:spcAft>
            </a:pPr>
            <a:r>
              <a:rPr lang="en-US" sz="1600" dirty="0"/>
              <a:t>🔒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300" b="1" dirty="0">
                <a:solidFill>
                  <a:srgbClr val="F0F6FC"/>
                </a:solidFill>
              </a:rPr>
              <a:t>Auth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TW" sz="1000" dirty="0">
                <a:solidFill>
                  <a:srgbClr val="6889A8"/>
                </a:solidFill>
              </a:rPr>
              <a:t>API Key 驗證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00B894"/>
                </a:solidFill>
              </a:rPr>
              <a:t>驗證 + 授權</a:t>
            </a:r>
          </a:p>
        </p:txBody>
      </p:sp>
      <p:sp>
        <p:nvSpPr>
          <p:cNvPr id="107" name="Card107"/>
          <p:cNvSpPr/>
          <p:nvPr/>
        </p:nvSpPr>
        <p:spPr>
          <a:xfrm>
            <a:off x="3217333" y="4381500"/>
            <a:ext cx="2794000" cy="990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F39C12"/>
            </a:solidFill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0"/>
              </a:spcAft>
            </a:pPr>
            <a:r>
              <a:rPr lang="en-US" sz="1600" dirty="0"/>
              <a:t>🗄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300" b="1" dirty="0">
                <a:solidFill>
                  <a:srgbClr val="F0F6FC"/>
                </a:solidFill>
              </a:rPr>
              <a:t>Database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TW" sz="1000" dirty="0">
                <a:solidFill>
                  <a:srgbClr val="6889A8"/>
                </a:solidFill>
              </a:rPr>
              <a:t>資料持久層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F39C12"/>
                </a:solidFill>
              </a:rPr>
              <a:t>PostgreSQL / MySQL</a:t>
            </a:r>
          </a:p>
        </p:txBody>
      </p:sp>
      <p:sp>
        <p:nvSpPr>
          <p:cNvPr id="108" name="Card108"/>
          <p:cNvSpPr/>
          <p:nvPr/>
        </p:nvSpPr>
        <p:spPr>
          <a:xfrm>
            <a:off x="7450666" y="4381500"/>
            <a:ext cx="2794000" cy="9906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5875">
            <a:solidFill>
              <a:srgbClr val="F39C12"/>
            </a:solidFill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0"/>
              </a:spcAft>
            </a:pPr>
            <a:r>
              <a:rPr lang="en-US" sz="1600" dirty="0"/>
              <a:t>💾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en-US" sz="1300" b="1" dirty="0">
                <a:solidFill>
                  <a:srgbClr val="F0F6FC"/>
                </a:solidFill>
              </a:rPr>
              <a:t>File Storage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TW" sz="1000" dirty="0">
                <a:solidFill>
                  <a:srgbClr val="6889A8"/>
                </a:solidFill>
              </a:rPr>
              <a:t>原始 Log 檔</a:t>
            </a:r>
          </a:p>
          <a:p>
            <a:pPr algn="ctr">
              <a:spcBef>
                <a:spcPts val="0"/>
              </a:spcBef>
            </a:pPr>
            <a:r>
              <a:rPr lang="en-US" sz="1000" b="1" dirty="0">
                <a:solidFill>
                  <a:srgbClr val="F39C12"/>
                </a:solidFill>
              </a:rPr>
              <a:t>S3 / Local Disk</a:t>
            </a:r>
          </a:p>
        </p:txBody>
      </p:sp>
      <p:cxnSp>
        <p:nvCxnSpPr>
          <p:cNvPr id="109" name="Line109"/>
          <p:cNvCxnSpPr/>
          <p:nvPr/>
        </p:nvCxnSpPr>
        <p:spPr>
          <a:xfrm>
            <a:off x="6731000" y="2260600"/>
            <a:ext cx="1" cy="2540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0" name="Line110"/>
          <p:cNvCxnSpPr/>
          <p:nvPr/>
        </p:nvCxnSpPr>
        <p:spPr>
          <a:xfrm>
            <a:off x="3635375" y="2514600"/>
            <a:ext cx="6191250" cy="1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1" name="Line111"/>
          <p:cNvCxnSpPr/>
          <p:nvPr/>
        </p:nvCxnSpPr>
        <p:spPr>
          <a:xfrm>
            <a:off x="3635375" y="2514600"/>
            <a:ext cx="1" cy="3429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2" name="Line112"/>
          <p:cNvCxnSpPr/>
          <p:nvPr/>
        </p:nvCxnSpPr>
        <p:spPr>
          <a:xfrm>
            <a:off x="6731000" y="2514600"/>
            <a:ext cx="1" cy="3429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3" name="Line113"/>
          <p:cNvCxnSpPr/>
          <p:nvPr/>
        </p:nvCxnSpPr>
        <p:spPr>
          <a:xfrm>
            <a:off x="9826625" y="2514600"/>
            <a:ext cx="1" cy="3429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sp>
        <p:nvSpPr>
          <p:cNvPr id="114" name="ConnLabel114"/>
          <p:cNvSpPr txBox="1"/>
          <p:nvPr/>
        </p:nvSpPr>
        <p:spPr>
          <a:xfrm>
            <a:off x="7048500" y="2324100"/>
            <a:ext cx="2032000" cy="254000"/>
          </a:xfrm>
          <a:prstGeom prst="rect">
            <a:avLst/>
          </a:prstGeom>
          <a:solidFill>
            <a:srgbClr val="0D1117">
              <a:alpha val="80000"/>
            </a:srgbClr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900" dirty="0">
                <a:solidFill>
                  <a:srgbClr val="A8C8E8"/>
                </a:solidFill>
              </a:rPr>
              <a:t>REST API + API Key</a:t>
            </a:r>
          </a:p>
        </p:txBody>
      </p:sp>
      <p:cxnSp>
        <p:nvCxnSpPr>
          <p:cNvPr id="115" name="Line115"/>
          <p:cNvCxnSpPr/>
          <p:nvPr/>
        </p:nvCxnSpPr>
        <p:spPr>
          <a:xfrm>
            <a:off x="6731000" y="3848100"/>
            <a:ext cx="1" cy="2286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6" name="Line116"/>
          <p:cNvCxnSpPr/>
          <p:nvPr/>
        </p:nvCxnSpPr>
        <p:spPr>
          <a:xfrm>
            <a:off x="4614291" y="4076700"/>
            <a:ext cx="4233417" cy="1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7" name="Line117"/>
          <p:cNvCxnSpPr/>
          <p:nvPr/>
        </p:nvCxnSpPr>
        <p:spPr>
          <a:xfrm>
            <a:off x="4614291" y="4076700"/>
            <a:ext cx="1" cy="3048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cxnSp>
        <p:nvCxnSpPr>
          <p:cNvPr id="118" name="Line118"/>
          <p:cNvCxnSpPr/>
          <p:nvPr/>
        </p:nvCxnSpPr>
        <p:spPr>
          <a:xfrm>
            <a:off x="8847709" y="4076700"/>
            <a:ext cx="1" cy="304800"/>
          </a:xfrm>
          <a:prstGeom prst="straightConnector1">
            <a:avLst/>
          </a:prstGeom>
          <a:ln w="19050">
            <a:solidFill>
              <a:srgbClr val="3A5068"/>
            </a:solidFill>
            <a:tailEnd type="triangle" w="med" len="med"/>
          </a:ln>
        </p:spPr>
      </p:cxnSp>
      <p:sp>
        <p:nvSpPr>
          <p:cNvPr id="119" name="ConnLabel119"/>
          <p:cNvSpPr txBox="1"/>
          <p:nvPr/>
        </p:nvSpPr>
        <p:spPr>
          <a:xfrm>
            <a:off x="7048500" y="3886200"/>
            <a:ext cx="2032000" cy="254000"/>
          </a:xfrm>
          <a:prstGeom prst="rect">
            <a:avLst/>
          </a:prstGeom>
          <a:solidFill>
            <a:srgbClr val="0D1117">
              <a:alpha val="80000"/>
            </a:srgbClr>
          </a:solidFill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900" dirty="0">
                <a:solidFill>
                  <a:srgbClr val="A8C8E8"/>
                </a:solidFill>
              </a:rPr>
              <a:t>ORM / Query</a:t>
            </a:r>
          </a:p>
        </p:txBody>
      </p:sp>
    </p:spTree>
    <p:extLst>
      <p:ext uri="{BB962C8B-B14F-4D97-AF65-F5344CB8AC3E}">
        <p14:creationId xmlns:p14="http://schemas.microsoft.com/office/powerpoint/2010/main" val="231815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05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Backend Log 解析 + API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LOG PARSING &amp; API KEY AUTHENTICATION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9844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Log 解析流程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2377440" cy="13716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2340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508760" y="187452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50B12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</a:defRPr>
            </a:pPr>
            <a:r>
              <a:t>上傳 Log 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使用者透過 Dashboard</a:t>
            </a:r>
            <a:br/>
            <a:r>
              <a:t>拖放或選擇檔案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26080" y="224028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83280" y="1737360"/>
            <a:ext cx="2377440" cy="13716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01568" y="1737360"/>
            <a:ext cx="2340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43400" y="187452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50B12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</a:defRPr>
            </a:pPr>
            <a:r>
              <a:t>API Key 驗證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Backend 驗證請求</a:t>
            </a:r>
            <a:br/>
            <a:r>
              <a:t>中附帶的 API Key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60720" y="224028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17920" y="1737360"/>
            <a:ext cx="2377440" cy="13716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36208" y="1737360"/>
            <a:ext cx="2340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78040" y="187452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50B12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</a:defRPr>
            </a:pPr>
            <a:r>
              <a:t>Log 解析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解析引擎提取</a:t>
            </a:r>
            <a:br/>
            <a:r>
              <a:t>結構化欄位資料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595360" y="224028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052560" y="1737360"/>
            <a:ext cx="2377440" cy="13716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70848" y="1737360"/>
            <a:ext cx="234086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12680" y="187452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50B12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0F6FC"/>
                </a:solidFill>
              </a:defRPr>
            </a:pPr>
            <a:r>
              <a:t>儲存入庫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結構化資料寫入</a:t>
            </a:r>
            <a:br/>
            <a:r>
              <a:t>Database 供查詢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40156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Log 解析產出欄位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600" y="3794760"/>
            <a:ext cx="170180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rPr lang="en-US" sz="1100" b="1" dirty="0">
                <a:solidFill>
                  <a:srgbClr val="00D4FF"/>
                </a:solidFill>
              </a:rPr>
              <a:t>TOOL NAME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65400" y="3794760"/>
            <a:ext cx="170180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rPr lang="en-US" sz="1100" b="1" dirty="0">
                <a:solidFill>
                  <a:srgbClr val="00D4FF"/>
                </a:solidFill>
              </a:rPr>
              <a:t>LOG FILENAME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94200" y="3794760"/>
            <a:ext cx="170180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rPr lang="en-US" sz="1100" b="1" dirty="0">
                <a:solidFill>
                  <a:srgbClr val="00D4FF"/>
                </a:solidFill>
              </a:rPr>
              <a:t>TEST SITE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23000" y="3794760"/>
            <a:ext cx="170180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rPr lang="en-US" sz="1100" b="1" dirty="0">
                <a:solidFill>
                  <a:srgbClr val="00D4FF"/>
                </a:solidFill>
              </a:rPr>
              <a:t>TESTER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51800" y="3794760"/>
            <a:ext cx="170180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rPr lang="en-US" sz="1100" b="1" dirty="0">
                <a:solidFill>
                  <a:srgbClr val="00D4FF"/>
                </a:solidFill>
              </a:rPr>
              <a:t>DURATION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80600" y="3794760"/>
            <a:ext cx="1701800" cy="32004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rPr lang="en-US" sz="1100" b="1" dirty="0">
                <a:solidFill>
                  <a:srgbClr val="00D4FF"/>
                </a:solidFill>
              </a:rPr>
              <a:t>RESULT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0740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API Key 驗證機制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846320"/>
            <a:ext cx="2286000" cy="11887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4937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6FC"/>
                </a:solidFill>
              </a:defRPr>
            </a:pPr>
            <a:r>
              <a:t>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257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6FC"/>
                </a:solidFill>
              </a:defRPr>
            </a:pPr>
            <a:r>
              <a:t>Client 上傳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486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Header 帶入</a:t>
            </a:r>
            <a:br/>
            <a:r>
              <a:t>X-API-Key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2834640" y="525780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291840" y="4846320"/>
            <a:ext cx="2286000" cy="11887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83280" y="4937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F6FC"/>
                </a:solidFill>
              </a:defRPr>
            </a:pPr>
            <a:r>
              <a:t>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2578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0F6FC"/>
                </a:solidFill>
              </a:defRPr>
            </a:pPr>
            <a:r>
              <a:t>Backend 驗證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5486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比對已註冊的</a:t>
            </a:r>
            <a:br/>
            <a:r>
              <a:t>合法 API Key</a:t>
            </a:r>
          </a:p>
        </p:txBody>
      </p:sp>
      <p:sp>
        <p:nvSpPr>
          <p:cNvPr id="53" name="Diamond 52"/>
          <p:cNvSpPr/>
          <p:nvPr/>
        </p:nvSpPr>
        <p:spPr>
          <a:xfrm>
            <a:off x="6217920" y="4983480"/>
            <a:ext cx="914400" cy="914400"/>
          </a:xfrm>
          <a:prstGeom prst="diamond">
            <a:avLst/>
          </a:prstGeom>
          <a:solidFill>
            <a:srgbClr val="111C2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39C12"/>
                </a:solidFill>
              </a:defRPr>
            </a:pPr>
            <a:r>
              <a:t>驗證?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5760720" y="530352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498079" y="4892040"/>
            <a:ext cx="4114800" cy="4572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00B894"/>
                </a:solidFill>
              </a:defRPr>
            </a:pPr>
            <a:r>
              <a:t>✔ 合法 Key → 允許上傳，解析 Log，寫入 DB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7132320" y="4983480"/>
            <a:ext cx="32004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498079" y="5532120"/>
            <a:ext cx="4114800" cy="4572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E74C3C"/>
                </a:solidFill>
              </a:defRPr>
            </a:pPr>
            <a:r>
              <a:t>✘ 非法 Key → 拒絕上傳，回傳 401 Unauthorized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7132320" y="5623560"/>
            <a:ext cx="32004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07898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06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Log 資料生命週期管理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DATA LIFECYCLE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3504" y="1280160"/>
            <a:ext cx="10460736" cy="640080"/>
          </a:xfrm>
          <a:prstGeom prst="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8C8E8"/>
                </a:solidFill>
              </a:defRPr>
            </a:pPr>
            <a:r>
              <a:t>建議保留期限：2 年 — 涵蓋完整年度對比週期，兼顧分析需求與儲存成本。超過 2 年移入歸檔，滿 3 年後經審核可永久刪除。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3017520" cy="2011680"/>
          </a:xfrm>
          <a:prstGeom prst="roundRect">
            <a:avLst/>
          </a:prstGeom>
          <a:solidFill>
            <a:srgbClr val="111C2A"/>
          </a:solidFill>
          <a:ln w="254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6FC"/>
                </a:solidFill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894"/>
                </a:solidFill>
              </a:defRPr>
            </a:pPr>
            <a:r>
              <a:t>0 ~ 24 個月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889A8"/>
                </a:solidFill>
              </a:defRPr>
            </a:pPr>
            <a:r>
              <a:t>線上即時查詢</a:t>
            </a:r>
            <a:br/>
            <a:r>
              <a:t>完整搜尋 / 篩選</a:t>
            </a:r>
            <a:br/>
            <a:r>
              <a:t>Dashboard 展示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49040" y="310896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06240" y="2286000"/>
            <a:ext cx="3017520" cy="2011680"/>
          </a:xfrm>
          <a:prstGeom prst="roundRect">
            <a:avLst/>
          </a:prstGeom>
          <a:solidFill>
            <a:srgbClr val="111C2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6FC"/>
                </a:solidFill>
              </a:defRPr>
            </a:pPr>
            <a: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Archive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39C12"/>
                </a:solidFill>
              </a:defRPr>
            </a:pPr>
            <a:r>
              <a:t>24 ~ 36 個月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889A8"/>
                </a:solidFill>
              </a:defRPr>
            </a:pPr>
            <a:r>
              <a:t>移入冷儲存</a:t>
            </a:r>
            <a:br/>
            <a:r>
              <a:t>按需解壓查詢</a:t>
            </a:r>
            <a:br/>
            <a:r>
              <a:t>壓縮儲存降本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23760" y="3108960"/>
            <a:ext cx="4114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80960" y="2286000"/>
            <a:ext cx="3017520" cy="2011680"/>
          </a:xfrm>
          <a:prstGeom prst="roundRect">
            <a:avLst/>
          </a:prstGeom>
          <a:solidFill>
            <a:srgbClr val="111C2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0" y="24231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0F6FC"/>
                </a:solidFill>
              </a:defRPr>
            </a:pPr>
            <a:r>
              <a:t>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0632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</a:defRPr>
            </a:pPr>
            <a:r>
              <a:t>36 個月後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3832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889A8"/>
                </a:solidFill>
              </a:defRPr>
            </a:pPr>
            <a:r>
              <a:t>經審核永久刪除</a:t>
            </a:r>
            <a:br/>
            <a:r>
              <a:t>保留統計摘要</a:t>
            </a:r>
            <a:br/>
            <a:r>
              <a:t>釋放儲存空間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9028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儲存容量估算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83480"/>
            <a:ext cx="2468880" cy="9144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9808" y="4983480"/>
            <a:ext cx="243230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~2 KB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每筆 Log 記錄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4983480"/>
            <a:ext cx="2468880" cy="9144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93008" y="4983480"/>
            <a:ext cx="243230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118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~50 KB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原始 Log 檔平均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983480"/>
            <a:ext cx="2468880" cy="9144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36208" y="4983480"/>
            <a:ext cx="243230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~500 MB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預估年度資料量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61120" y="4983480"/>
            <a:ext cx="2468880" cy="91440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979408" y="4983480"/>
            <a:ext cx="243230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9828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~1 GB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2 年保留容量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053328"/>
            <a:ext cx="73152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備份與合規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C8E8"/>
                </a:solidFill>
              </a:defRPr>
            </a:pPr>
            <a:r>
              <a:t>每日增量備份 · 每週完整備份 · 異地備份 · 存取控制 · 審計軌跡 · 資料脫敏 · 刪除雙重確認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789920" y="182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889A8"/>
                </a:solidFill>
              </a:defRPr>
            </a:pPr>
            <a:r>
              <a:t>07 / 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502920" cy="502920"/>
          </a:xfrm>
          <a:prstGeom prst="roundRect">
            <a:avLst/>
          </a:prstGeom>
          <a:solidFill>
            <a:srgbClr val="0D1620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6FC"/>
                </a:solidFill>
              </a:defRPr>
            </a:pPr>
            <a:r>
              <a:t>總結與下一步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77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889A8"/>
                </a:solidFill>
              </a:defRPr>
            </a:pPr>
            <a:r>
              <a:t>SUMMARY &amp;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34747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463040"/>
            <a:ext cx="3346704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0F6FC"/>
                </a:solidFill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6FC"/>
                </a:solidFill>
              </a:defRPr>
            </a:pPr>
            <a:r>
              <a:t>已完成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C8E8"/>
                </a:solidFill>
              </a:defRPr>
            </a:pPr>
            <a:r>
              <a:t>前端 Dashboard 完成</a:t>
            </a:r>
            <a:br/>
            <a:r>
              <a:t>Overview / Upload / Tool Status</a:t>
            </a:r>
            <a:br/>
            <a:r>
              <a:t>三站 30 工具完整展示</a:t>
            </a:r>
            <a:br/>
            <a:r>
              <a:t>GitHub Pages 部署上線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34747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463040"/>
            <a:ext cx="3346704" cy="36576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0F6FC"/>
                </a:solidFill>
              </a:defRPr>
            </a:pPr>
            <a:r>
              <a:t>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6FC"/>
                </a:solidFill>
              </a:defRPr>
            </a:pPr>
            <a:r>
              <a:t>下一階段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C8E8"/>
                </a:solidFill>
              </a:defRPr>
            </a:pPr>
            <a:r>
              <a:t>建置 Backend API Server</a:t>
            </a:r>
            <a:br/>
            <a:r>
              <a:t>實作 Log Parser 引擎</a:t>
            </a:r>
            <a:br/>
            <a:r>
              <a:t>API Key 驗證機制</a:t>
            </a:r>
            <a:br/>
            <a:r>
              <a:t>資料庫建置與串接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3474720"/>
          </a:xfrm>
          <a:prstGeom prst="round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5008" y="1463040"/>
            <a:ext cx="3346704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737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0F6FC"/>
                </a:solidFill>
              </a:defRPr>
            </a:pPr>
            <a: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86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0F6FC"/>
                </a:solidFill>
              </a:defRPr>
            </a:pPr>
            <a:r>
              <a:t>預期效益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34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C8E8"/>
                </a:solidFill>
              </a:defRPr>
            </a:pPr>
            <a:r>
              <a:t>即時工具使用率監控</a:t>
            </a:r>
            <a:br/>
            <a:r>
              <a:t>自動化 Log 解析入庫</a:t>
            </a:r>
            <a:br/>
            <a:r>
              <a:t>跨站資源調配依據</a:t>
            </a:r>
            <a:br/>
            <a:r>
              <a:t>資料驅動決策支持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03520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" y="5303520"/>
            <a:ext cx="10460736" cy="640080"/>
          </a:xfrm>
          <a:prstGeom prst="rect">
            <a:avLst/>
          </a:prstGeom>
          <a:solidFill>
            <a:srgbClr val="111C2A"/>
          </a:solidFill>
          <a:ln w="12700">
            <a:solidFill>
              <a:srgbClr val="1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8C8E8"/>
                </a:solidFill>
              </a:defRPr>
            </a:pPr>
            <a:r>
              <a:t>💬 需要討論：伺服器資源申請  |  資料庫選型確認  |  時程規劃  |  團隊分工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889A8"/>
                </a:solidFill>
              </a:defRPr>
            </a:pPr>
            <a:r>
              <a:t>ToolTrack Dashboard — Project Briefing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C44AB4E-7F92-4577-B47C-B5573EDE98A8}">
  <we:reference id="wa200010001" version="1.0.0.1" store="zh-TW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623</Words>
  <Application>Microsoft Office PowerPoint</Application>
  <PresentationFormat>寬螢幕</PresentationFormat>
  <Paragraphs>187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美甄 黃</cp:lastModifiedBy>
  <cp:revision>3</cp:revision>
  <dcterms:created xsi:type="dcterms:W3CDTF">2013-01-27T09:14:16Z</dcterms:created>
  <dcterms:modified xsi:type="dcterms:W3CDTF">2026-03-16T09:18:43Z</dcterms:modified>
  <cp:category/>
</cp:coreProperties>
</file>